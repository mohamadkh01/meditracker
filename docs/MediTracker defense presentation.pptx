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50"/>
    <a:srgbClr val="262626"/>
    <a:srgbClr val="16A34A"/>
    <a:srgbClr val="DC2626"/>
    <a:srgbClr val="EA580C"/>
    <a:srgbClr val="2563EB"/>
    <a:srgbClr val="14387E"/>
    <a:srgbClr val="7A9A85"/>
    <a:srgbClr val="F8F4E3"/>
    <a:srgbClr val="F4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>
      <p:cViewPr>
        <p:scale>
          <a:sx n="75" d="100"/>
          <a:sy n="75" d="100"/>
        </p:scale>
        <p:origin x="1550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9" d="100"/>
        <a:sy n="9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82E8A-E8C7-4FA6-AD78-9C5B468520C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BCCD8-3437-435E-9381-AD815E471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92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B398-FE91-4AB5-92F0-0EC10A2CC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932F9-2A6C-423B-AE6C-4B3263902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553B-9314-4EB8-8400-B0E1FDFD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1BA32-1810-4EB8-9FDA-C0894598F0A9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1EDD6-14B9-4929-AD2D-ADA17F28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45B45-E84B-4DBD-9954-2D14B9EC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8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9536D-37E7-4FF3-9C37-4C2A8C9DC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E9FF05C-3D32-4F30-BF9D-9481E969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5C0A4B8-0A75-427A-B1E9-80081905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9C461-4B0A-4B25-ADF1-A93C237EA88B}" type="datetime1">
              <a:rPr lang="en-US" smtClean="0"/>
              <a:t>7/8/2026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03A722-26A3-47BC-83F8-CE03F207F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8B409E-B1F6-49D3-BF09-C0B0DFC3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C230-9971-4BC7-85BB-2A402F1E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F4D47-82AC-440C-8154-63E70DF04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890B9-E347-4A13-B9F8-064C85A1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BB7E5E-1CC7-4D84-BD54-7CF45E70A61E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EE511-DEF9-4AFD-98C5-1D55C0AD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15CB0-1595-4588-A4D3-FA6E1423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C27D-2860-4504-8533-903E3D3C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3168-4C7E-47CC-8A14-C0A0AAA65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D8AD2-895B-434F-B1C4-BF409DCA6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EE475-45FB-436F-80B3-54E2B39C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B19F47-8FD2-4878-BAC9-FAB2183B0BB6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CC6B9-25BE-4843-A0C8-905E2D8A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B6814-C0B4-4C6B-B09A-0E5967E2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99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99BB-93D5-4B55-878D-14CE7A42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068A8-6E87-4114-9F5A-A1946E7C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9FCCE8-2BF8-4E7B-8999-A1B6253AE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855D0-5901-44FB-A561-B5B3FBBD0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6EACC-3BA8-4A0B-90C8-8E7FE678A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D2066-7A4B-4D10-BFF4-7226860C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0B6670-09BF-4A37-A468-82A4AE50D593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3D3CF-1493-411C-9EE0-515FEA2D7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7DD39-520F-4F83-96E6-FFC1A422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2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B0D5-F7B3-47E6-815D-80785811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27103-0CD7-4E01-9033-77320703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F21E49-0861-4939-858F-0FF316803065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7A853-D9E9-45D7-B624-B702EC52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FFC4-6F63-4379-B77A-E8454B19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3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58B15-E5B6-48D5-9401-EDFF6097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129719-2A3A-4A00-8CE5-612412413A22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47E2A-5F41-45F5-BC8B-2368C64F4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A1CDC-05D8-48E1-A86C-AA650BD7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4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8388-EC0B-4959-A22B-0ACD53F3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8BCDE-A9DD-4FB8-AF5E-B243D1085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35115-0981-4475-A3EC-441513DB5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0A130-F8C3-4687-BAE6-C8A2486C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130BD-01CA-4CE1-ADBA-E3817F19ADB1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581F6-9EEA-4791-A795-661DB5A2F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8EE6B-DE0A-43A3-8E79-BABE200C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3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B207-B82A-4A1B-BF90-1CCE8FF6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4DBE07-C913-4B6C-A0C1-B7DB1B6CF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6849D-1CDB-4026-A533-1A9D831E7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8A5AC-F382-40CD-9FBA-FD4DA6DD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30A227-216E-47F6-8F44-9CF226C8E6F8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50464-73D7-49D4-BE57-F1186494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6591-BD70-4FE5-9D25-E5CC551E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8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CBBC-EFE2-4AB2-A706-99D94B3D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5A932-7E9F-40A0-9C07-1A812ABC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DB30C-3CE0-468C-859D-B58030C2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845E02-4EAA-493D-924B-783EF417C876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4FC1D-6951-497F-9A78-7EC29941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38EB-64AE-4913-987E-CEF6941A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8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FEFB0-8F1A-46BE-BBBC-B49C21A17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30D8A-2C7F-4AA0-915A-00A19C32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7EEF3-7EF1-4609-9315-9291DBFA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0BCA14-3EDB-4294-9348-F9E89295AEE7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F0E37-A794-49F9-BAFC-A6AC83A8F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27FF6-8D3D-4E66-A1B4-BDA3D14E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8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967B1-FACA-41E8-80A7-16150D31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1263D-520E-4A8C-9CAE-CC4942208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F2BE-EA80-4DC9-BEA3-FEB26D690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F0EAC-7738-40C7-936D-CD607468E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C6767-8F31-49E3-A71C-A684F5ACC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70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6193A"/>
            </a:gs>
            <a:gs pos="0">
              <a:srgbClr val="00206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Heart with pulse with solid fill">
            <a:extLst>
              <a:ext uri="{FF2B5EF4-FFF2-40B4-BE49-F238E27FC236}">
                <a16:creationId xmlns:a16="http://schemas.microsoft.com/office/drawing/2014/main" id="{2763EC1B-6FED-4179-BA8D-D59404D67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799" y="754639"/>
            <a:ext cx="914400" cy="9144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C59D10-450D-43EA-BCDB-A97501BAC9F4}"/>
              </a:ext>
            </a:extLst>
          </p:cNvPr>
          <p:cNvSpPr/>
          <p:nvPr/>
        </p:nvSpPr>
        <p:spPr>
          <a:xfrm>
            <a:off x="4964251" y="1725728"/>
            <a:ext cx="2263495" cy="312899"/>
          </a:xfrm>
          <a:prstGeom prst="roundRect">
            <a:avLst>
              <a:gd name="adj" fmla="val 50000"/>
            </a:avLst>
          </a:prstGeom>
          <a:solidFill>
            <a:srgbClr val="182C45"/>
          </a:solidFill>
          <a:ln>
            <a:solidFill>
              <a:srgbClr val="02C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2DD4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IN448 — PROJECT DEFENSE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A253BC-FDA1-425E-97DD-E4F9D8333467}"/>
              </a:ext>
            </a:extLst>
          </p:cNvPr>
          <p:cNvSpPr txBox="1"/>
          <p:nvPr/>
        </p:nvSpPr>
        <p:spPr>
          <a:xfrm>
            <a:off x="2009774" y="2253888"/>
            <a:ext cx="817244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MediTracker</a:t>
            </a:r>
          </a:p>
          <a:p>
            <a:pPr algn="ctr"/>
            <a:endParaRPr lang="en-US" sz="2000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Role-Based Mobile Application for Medication Adherence and Caregiver Monitoring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97693F-DAAA-40ED-8E49-C9257A3DE6F7}"/>
              </a:ext>
            </a:extLst>
          </p:cNvPr>
          <p:cNvSpPr txBox="1"/>
          <p:nvPr/>
        </p:nvSpPr>
        <p:spPr>
          <a:xfrm>
            <a:off x="5153024" y="5124448"/>
            <a:ext cx="1885947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dirty="0">
                <a:solidFill>
                  <a:srgbClr val="2DD4C0"/>
                </a:solidFill>
              </a:rPr>
              <a:t>Prepared By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Mohamad Khatib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1E6E5-A733-43FA-AE6B-033D5C5DC6EE}"/>
              </a:ext>
            </a:extLst>
          </p:cNvPr>
          <p:cNvSpPr txBox="1"/>
          <p:nvPr/>
        </p:nvSpPr>
        <p:spPr>
          <a:xfrm>
            <a:off x="8296275" y="5124448"/>
            <a:ext cx="1885947" cy="9233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dirty="0">
                <a:solidFill>
                  <a:srgbClr val="2DD4C0"/>
                </a:solidFill>
              </a:rPr>
              <a:t>Department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Computer Science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LU 2025-2026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2C19E-36FF-4B0B-B0CC-3780A4D46848}"/>
              </a:ext>
            </a:extLst>
          </p:cNvPr>
          <p:cNvSpPr txBox="1"/>
          <p:nvPr/>
        </p:nvSpPr>
        <p:spPr>
          <a:xfrm>
            <a:off x="2009779" y="5124448"/>
            <a:ext cx="1885947" cy="9233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dirty="0">
                <a:solidFill>
                  <a:srgbClr val="2DD4C0"/>
                </a:solidFill>
              </a:rPr>
              <a:t>Instructors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Dr. Rami Tawil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Dr. Ali Jaber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32EE68-8BE6-413F-9E6D-C373888A4C39}"/>
              </a:ext>
            </a:extLst>
          </p:cNvPr>
          <p:cNvCxnSpPr>
            <a:cxnSpLocks/>
          </p:cNvCxnSpPr>
          <p:nvPr/>
        </p:nvCxnSpPr>
        <p:spPr>
          <a:xfrm>
            <a:off x="1928814" y="5029198"/>
            <a:ext cx="83343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9712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Silent Crisis of Non-Adherence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E7A56D-FAE4-431D-B4A8-E878BA066564}"/>
              </a:ext>
            </a:extLst>
          </p:cNvPr>
          <p:cNvSpPr/>
          <p:nvPr/>
        </p:nvSpPr>
        <p:spPr>
          <a:xfrm>
            <a:off x="5398332" y="2078008"/>
            <a:ext cx="2876239" cy="1249787"/>
          </a:xfrm>
          <a:prstGeom prst="roundRect">
            <a:avLst>
              <a:gd name="adj" fmla="val 25088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50%</a:t>
            </a:r>
          </a:p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chronic-disease patients do not take medication as prescribed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B21286-ABAC-432F-9F9F-C1B334E57B8E}"/>
              </a:ext>
            </a:extLst>
          </p:cNvPr>
          <p:cNvSpPr/>
          <p:nvPr/>
        </p:nvSpPr>
        <p:spPr>
          <a:xfrm>
            <a:off x="5398332" y="3791101"/>
            <a:ext cx="2876239" cy="1249785"/>
          </a:xfrm>
          <a:prstGeom prst="roundRect">
            <a:avLst>
              <a:gd name="adj" fmla="val 25088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$100B - $300B</a:t>
            </a:r>
          </a:p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avoidable U.S. healthcare spending annually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9AE4BA-22BB-435A-81E8-64638EE16FD9}"/>
              </a:ext>
            </a:extLst>
          </p:cNvPr>
          <p:cNvSpPr/>
          <p:nvPr/>
        </p:nvSpPr>
        <p:spPr>
          <a:xfrm>
            <a:off x="8607992" y="3791101"/>
            <a:ext cx="2876239" cy="1249780"/>
          </a:xfrm>
          <a:prstGeom prst="roundRect">
            <a:avLst>
              <a:gd name="adj" fmla="val 25088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10%-25%</a:t>
            </a:r>
          </a:p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hospitalizations attributable to missed medication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47D071-E1F9-4811-9FFF-95D6F3725530}"/>
              </a:ext>
            </a:extLst>
          </p:cNvPr>
          <p:cNvSpPr/>
          <p:nvPr/>
        </p:nvSpPr>
        <p:spPr>
          <a:xfrm>
            <a:off x="8607993" y="2078008"/>
            <a:ext cx="2876239" cy="1249787"/>
          </a:xfrm>
          <a:prstGeom prst="roundRect">
            <a:avLst>
              <a:gd name="adj" fmla="val 25088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125K</a:t>
            </a:r>
          </a:p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Preventable Deaths per year linked to non-adherence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73CFF7-6983-45EC-8406-75C5B37380BB}"/>
              </a:ext>
            </a:extLst>
          </p:cNvPr>
          <p:cNvSpPr txBox="1"/>
          <p:nvPr/>
        </p:nvSpPr>
        <p:spPr>
          <a:xfrm>
            <a:off x="703512" y="2078008"/>
            <a:ext cx="43613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Roughly half of chronic-disease patients don’t take medication as prescribed. It’s not just forgetfulness — it’s a visibility problem: when no one is present at dose time, no one knows whether the plan was followed until a setback already happened.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F14D212-71DF-42B3-A39D-D63DF04E82F6}"/>
              </a:ext>
            </a:extLst>
          </p:cNvPr>
          <p:cNvSpPr/>
          <p:nvPr/>
        </p:nvSpPr>
        <p:spPr>
          <a:xfrm>
            <a:off x="703512" y="3791101"/>
            <a:ext cx="4361398" cy="1249785"/>
          </a:xfrm>
          <a:prstGeom prst="roundRect">
            <a:avLst>
              <a:gd name="adj" fmla="val 25088"/>
            </a:avLst>
          </a:prstGeom>
          <a:solidFill>
            <a:srgbClr val="F4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gap MediTracker closes:</a:t>
            </a:r>
          </a:p>
          <a:p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Gives the caregiver a real-time view of adherence, without requiring the patient to actively report anything.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8B76A5-F3EA-4B70-8E9A-BE9095BF53ED}"/>
              </a:ext>
            </a:extLst>
          </p:cNvPr>
          <p:cNvGrpSpPr/>
          <p:nvPr/>
        </p:nvGrpSpPr>
        <p:grpSpPr>
          <a:xfrm>
            <a:off x="707768" y="280450"/>
            <a:ext cx="10780720" cy="6297099"/>
            <a:chOff x="707768" y="280450"/>
            <a:chExt cx="10780720" cy="62970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AACD198-C5AC-4FFD-8158-53017CA272FF}"/>
                </a:ext>
              </a:extLst>
            </p:cNvPr>
            <p:cNvGrpSpPr/>
            <p:nvPr/>
          </p:nvGrpSpPr>
          <p:grpSpPr>
            <a:xfrm>
              <a:off x="707768" y="280451"/>
              <a:ext cx="10780720" cy="6297098"/>
              <a:chOff x="707768" y="280451"/>
              <a:chExt cx="10780720" cy="629709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23581CC-B7B7-4E14-9B01-EBD8BC424E60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" name="Graphic 4" descr="Heart with pulse with solid fill">
                  <a:extLst>
                    <a:ext uri="{FF2B5EF4-FFF2-40B4-BE49-F238E27FC236}">
                      <a16:creationId xmlns:a16="http://schemas.microsoft.com/office/drawing/2014/main" id="{1385BD7D-3F73-45B1-B7DB-CF3EF8F450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95E659A-1A4A-407C-BB9E-39E5C4E6C087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1CD423A-D036-4DA9-8C3F-3820D0317B93}"/>
                  </a:ext>
                </a:extLst>
              </p:cNvPr>
              <p:cNvGrpSpPr/>
              <p:nvPr/>
            </p:nvGrpSpPr>
            <p:grpSpPr>
              <a:xfrm>
                <a:off x="707768" y="6269771"/>
                <a:ext cx="10780720" cy="307778"/>
                <a:chOff x="707768" y="6269771"/>
                <a:chExt cx="10780720" cy="307778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0F6EBD2-2E78-4445-89DD-BDE0D58A8EC1}"/>
                    </a:ext>
                  </a:extLst>
                </p:cNvPr>
                <p:cNvSpPr txBox="1"/>
                <p:nvPr/>
              </p:nvSpPr>
              <p:spPr>
                <a:xfrm>
                  <a:off x="707768" y="6269772"/>
                  <a:ext cx="45500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The Adherence Crisis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EFEF0DA-9AB7-4451-A07E-B8E067B56E69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2/16</a:t>
                  </a:r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A6B9173-5CB0-464D-9D25-A67481BCDA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3F20831-A387-4414-AEA2-7C97156A663C}"/>
                </a:ext>
              </a:extLst>
            </p:cNvPr>
            <p:cNvSpPr txBox="1"/>
            <p:nvPr/>
          </p:nvSpPr>
          <p:spPr>
            <a:xfrm>
              <a:off x="10568065" y="280450"/>
              <a:ext cx="9161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549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9712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Roles, One Shared Application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47D071-E1F9-4811-9FFF-95D6F3725530}"/>
              </a:ext>
            </a:extLst>
          </p:cNvPr>
          <p:cNvSpPr/>
          <p:nvPr/>
        </p:nvSpPr>
        <p:spPr>
          <a:xfrm>
            <a:off x="796635" y="1768840"/>
            <a:ext cx="5004558" cy="4137283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2"/>
            <a:br>
              <a:rPr lang="en-US" sz="14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Patient Persona</a:t>
            </a:r>
            <a:endParaRPr lang="en-US" sz="14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2"/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2"/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Register medications with flexible schedules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Sees what’s due today, logs a dose in one tap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Reviews a full adherence history over time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Manages caregiver connections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Manages profile settings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FA8C0F-AA46-416F-BB50-30061A891D19}"/>
              </a:ext>
            </a:extLst>
          </p:cNvPr>
          <p:cNvGrpSpPr/>
          <p:nvPr/>
        </p:nvGrpSpPr>
        <p:grpSpPr>
          <a:xfrm>
            <a:off x="1120473" y="2063925"/>
            <a:ext cx="685800" cy="685800"/>
            <a:chOff x="868680" y="2377440"/>
            <a:chExt cx="685800" cy="685800"/>
          </a:xfrm>
        </p:grpSpPr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B2A6BE0F-4089-47CA-9E19-42DB0CA17093}"/>
                </a:ext>
              </a:extLst>
            </p:cNvPr>
            <p:cNvSpPr/>
            <p:nvPr/>
          </p:nvSpPr>
          <p:spPr>
            <a:xfrm>
              <a:off x="868680" y="2377440"/>
              <a:ext cx="685800" cy="685800"/>
            </a:xfrm>
            <a:prstGeom prst="ellipse">
              <a:avLst/>
            </a:prstGeom>
            <a:solidFill>
              <a:srgbClr val="028090"/>
            </a:solidFill>
            <a:ln/>
          </p:spPr>
        </p:sp>
        <p:pic>
          <p:nvPicPr>
            <p:cNvPr id="26" name="Image 0" descr="icons/usermd_white.png">
              <a:extLst>
                <a:ext uri="{FF2B5EF4-FFF2-40B4-BE49-F238E27FC236}">
                  <a16:creationId xmlns:a16="http://schemas.microsoft.com/office/drawing/2014/main" id="{8F337D50-5788-4132-B691-294E445E1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5840" y="2514600"/>
              <a:ext cx="411480" cy="411480"/>
            </a:xfrm>
            <a:prstGeom prst="rect">
              <a:avLst/>
            </a:prstGeom>
          </p:spPr>
        </p:pic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37A745-2444-4E68-B0F8-E2C527D732A3}"/>
              </a:ext>
            </a:extLst>
          </p:cNvPr>
          <p:cNvSpPr/>
          <p:nvPr/>
        </p:nvSpPr>
        <p:spPr>
          <a:xfrm>
            <a:off x="6390807" y="1768840"/>
            <a:ext cx="5004558" cy="4137283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2"/>
            <a:br>
              <a:rPr lang="en-US" sz="14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Caregiver Persona</a:t>
            </a:r>
          </a:p>
          <a:p>
            <a:pPr lvl="2"/>
            <a:endParaRPr lang="en-US" sz="2000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2"/>
            <a:endParaRPr lang="en-US" sz="2000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Requests a link to a specific patient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Gains read-only access once approved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Reviews connected patient’s adherence history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Gets push alerts on taken / skipped / missed doses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Manages profile settings</a:t>
            </a:r>
          </a:p>
          <a:p>
            <a:pPr lvl="2"/>
            <a:endParaRPr lang="en-US" sz="1400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9E19BC-07E0-4E89-B940-B3FB23C1C546}"/>
              </a:ext>
            </a:extLst>
          </p:cNvPr>
          <p:cNvGrpSpPr/>
          <p:nvPr/>
        </p:nvGrpSpPr>
        <p:grpSpPr>
          <a:xfrm>
            <a:off x="6691688" y="2063925"/>
            <a:ext cx="685800" cy="685800"/>
            <a:chOff x="6583680" y="2377440"/>
            <a:chExt cx="685800" cy="685800"/>
          </a:xfrm>
        </p:grpSpPr>
        <p:sp>
          <p:nvSpPr>
            <p:cNvPr id="34" name="Shape 8">
              <a:extLst>
                <a:ext uri="{FF2B5EF4-FFF2-40B4-BE49-F238E27FC236}">
                  <a16:creationId xmlns:a16="http://schemas.microsoft.com/office/drawing/2014/main" id="{AD5BF2D7-C273-45F3-A922-9BD904539A6B}"/>
                </a:ext>
              </a:extLst>
            </p:cNvPr>
            <p:cNvSpPr/>
            <p:nvPr/>
          </p:nvSpPr>
          <p:spPr>
            <a:xfrm>
              <a:off x="6583680" y="2377440"/>
              <a:ext cx="685800" cy="685800"/>
            </a:xfrm>
            <a:prstGeom prst="ellipse">
              <a:avLst/>
            </a:prstGeom>
            <a:solidFill>
              <a:srgbClr val="028090"/>
            </a:solidFill>
            <a:ln/>
          </p:spPr>
        </p:sp>
        <p:pic>
          <p:nvPicPr>
            <p:cNvPr id="35" name="Image 1" descr="icons/usershield_white.png">
              <a:extLst>
                <a:ext uri="{FF2B5EF4-FFF2-40B4-BE49-F238E27FC236}">
                  <a16:creationId xmlns:a16="http://schemas.microsoft.com/office/drawing/2014/main" id="{BC7EE44E-794B-4D24-8E3F-2771FD0CA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0840" y="2514600"/>
              <a:ext cx="411480" cy="41148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F49B2F-25DC-4EB4-A852-ADEE2659868E}"/>
              </a:ext>
            </a:extLst>
          </p:cNvPr>
          <p:cNvGrpSpPr/>
          <p:nvPr/>
        </p:nvGrpSpPr>
        <p:grpSpPr>
          <a:xfrm>
            <a:off x="707768" y="280450"/>
            <a:ext cx="10780720" cy="6297099"/>
            <a:chOff x="707768" y="280450"/>
            <a:chExt cx="10780720" cy="629709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385D5DC-3FD3-48C5-9E27-42B1FDBC28DE}"/>
                </a:ext>
              </a:extLst>
            </p:cNvPr>
            <p:cNvGrpSpPr/>
            <p:nvPr/>
          </p:nvGrpSpPr>
          <p:grpSpPr>
            <a:xfrm>
              <a:off x="707768" y="280451"/>
              <a:ext cx="10780720" cy="6297098"/>
              <a:chOff x="707768" y="280451"/>
              <a:chExt cx="10780720" cy="629709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D68C04D-C11D-432F-A71D-2E4136D13062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3" name="Graphic 52" descr="Heart with pulse with solid fill">
                  <a:extLst>
                    <a:ext uri="{FF2B5EF4-FFF2-40B4-BE49-F238E27FC236}">
                      <a16:creationId xmlns:a16="http://schemas.microsoft.com/office/drawing/2014/main" id="{2DA21901-BACA-4AC9-BC15-291D869BED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3AF7673-E32B-4AC1-B5B2-41733F3B9815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F545134-029C-4FAD-93AF-274555077193}"/>
                  </a:ext>
                </a:extLst>
              </p:cNvPr>
              <p:cNvGrpSpPr/>
              <p:nvPr/>
            </p:nvGrpSpPr>
            <p:grpSpPr>
              <a:xfrm>
                <a:off x="707768" y="6269771"/>
                <a:ext cx="10780720" cy="307778"/>
                <a:chOff x="707768" y="6269771"/>
                <a:chExt cx="10780720" cy="307778"/>
              </a:xfrm>
            </p:grpSpPr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24A6A30-5D6C-4882-ACC1-B20CFCBFDBC5}"/>
                    </a:ext>
                  </a:extLst>
                </p:cNvPr>
                <p:cNvSpPr txBox="1"/>
                <p:nvPr/>
              </p:nvSpPr>
              <p:spPr>
                <a:xfrm>
                  <a:off x="707768" y="6269772"/>
                  <a:ext cx="45500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User Roles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B966215-0386-44DA-BBEF-18613651B397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3/16</a:t>
                  </a:r>
                </a:p>
              </p:txBody>
            </p: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0F0AE8F-4DC7-4906-8F76-0761679A9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370516-FB59-4B27-95C4-D18E5F837E4C}"/>
                </a:ext>
              </a:extLst>
            </p:cNvPr>
            <p:cNvSpPr txBox="1"/>
            <p:nvPr/>
          </p:nvSpPr>
          <p:spPr>
            <a:xfrm>
              <a:off x="10568065" y="280450"/>
              <a:ext cx="9161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4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9712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Clean Three-Tier Architecture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47D071-E1F9-4811-9FFF-95D6F3725530}"/>
              </a:ext>
            </a:extLst>
          </p:cNvPr>
          <p:cNvSpPr/>
          <p:nvPr/>
        </p:nvSpPr>
        <p:spPr>
          <a:xfrm>
            <a:off x="796635" y="1768839"/>
            <a:ext cx="3295680" cy="4137283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Presentation tier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Authentication screens: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Login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Register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 screens: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 Dashboard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Add/edit medications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History Log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Caregiver screens: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Caregiver Dashboard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 Logs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Shared screens: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Profile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connections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0CF8CC-05C9-4A4E-9C42-904F1D27AE65}"/>
              </a:ext>
            </a:extLst>
          </p:cNvPr>
          <p:cNvSpPr/>
          <p:nvPr/>
        </p:nvSpPr>
        <p:spPr>
          <a:xfrm>
            <a:off x="4448160" y="1768839"/>
            <a:ext cx="3295680" cy="4137283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 Logic Tier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Routes and Controllers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Middleware: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Protect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Authorize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VerifyRelationship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Node-cron engine: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Dose-due detection</a:t>
            </a:r>
          </a:p>
          <a:p>
            <a:pPr lvl="1"/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Missed-dose detection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Expo push notifications dispatch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9C6D4E6-2394-4E26-90EE-9AB0293B8195}"/>
              </a:ext>
            </a:extLst>
          </p:cNvPr>
          <p:cNvSpPr/>
          <p:nvPr/>
        </p:nvSpPr>
        <p:spPr>
          <a:xfrm>
            <a:off x="8099685" y="1768839"/>
            <a:ext cx="3295680" cy="4137283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Storage Tier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 MongoDB collections:</a:t>
            </a:r>
          </a:p>
          <a:p>
            <a:pPr lvl="1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Users</a:t>
            </a:r>
          </a:p>
          <a:p>
            <a:pPr lvl="1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Medications</a:t>
            </a:r>
          </a:p>
          <a:p>
            <a:pPr lvl="1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AdherenceLog</a:t>
            </a:r>
          </a:p>
          <a:p>
            <a:pPr lvl="1"/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CaregiverLink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7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464372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System Infrastructure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4/16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163331" y="280450"/>
              <a:ext cx="1320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Architecture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66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9712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Database Design &amp; Schema Strategy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47D071-E1F9-4811-9FFF-95D6F3725530}"/>
              </a:ext>
            </a:extLst>
          </p:cNvPr>
          <p:cNvSpPr/>
          <p:nvPr/>
        </p:nvSpPr>
        <p:spPr>
          <a:xfrm>
            <a:off x="796635" y="1768840"/>
            <a:ext cx="2441240" cy="22860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Users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Patients and caregivers in one collection, separated by a role field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7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06344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MongoDB Schema Design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5/16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163331" y="280450"/>
              <a:ext cx="1320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Architecture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36BDD5-99A9-4BD6-8B94-06A9222CFA59}"/>
              </a:ext>
            </a:extLst>
          </p:cNvPr>
          <p:cNvSpPr/>
          <p:nvPr/>
        </p:nvSpPr>
        <p:spPr>
          <a:xfrm>
            <a:off x="8954127" y="1768839"/>
            <a:ext cx="2441240" cy="22860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CaregiverLink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Patient-caregiver relationship and its status: pending, approved, rejected, revoked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7F0762-5F20-400E-9063-3686EDBC2A4B}"/>
              </a:ext>
            </a:extLst>
          </p:cNvPr>
          <p:cNvSpPr/>
          <p:nvPr/>
        </p:nvSpPr>
        <p:spPr>
          <a:xfrm>
            <a:off x="6255413" y="1768839"/>
            <a:ext cx="2441240" cy="22860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AdherenceLog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 document per logged or auto detected event: taken, skipped, missed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D50719-0A16-4B14-B147-B674659ED7B4}"/>
              </a:ext>
            </a:extLst>
          </p:cNvPr>
          <p:cNvSpPr/>
          <p:nvPr/>
        </p:nvSpPr>
        <p:spPr>
          <a:xfrm>
            <a:off x="3495349" y="1768839"/>
            <a:ext cx="2441240" cy="22860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Medications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 documents per medication: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name, dosage, frequency, schedule, inventory...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F7B4A7B-3438-404C-8516-51DE525847B0}"/>
              </a:ext>
            </a:extLst>
          </p:cNvPr>
          <p:cNvSpPr/>
          <p:nvPr/>
        </p:nvSpPr>
        <p:spPr>
          <a:xfrm>
            <a:off x="796634" y="4288032"/>
            <a:ext cx="10598732" cy="1669974"/>
          </a:xfrm>
          <a:prstGeom prst="roundRect">
            <a:avLst>
              <a:gd name="adj" fmla="val 9871"/>
            </a:avLst>
          </a:prstGeom>
          <a:solidFill>
            <a:srgbClr val="7A9A8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deliberate design choices: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AdherenceLog Keeps its own copy of the user and medication references, so it never needs a join operation.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CaregiverLink is its own collection, instead of an array on Users — so the relationship itself can carry state and metadata independent of the user’s document</a:t>
            </a:r>
          </a:p>
        </p:txBody>
      </p:sp>
    </p:spTree>
    <p:extLst>
      <p:ext uri="{BB962C8B-B14F-4D97-AF65-F5344CB8AC3E}">
        <p14:creationId xmlns:p14="http://schemas.microsoft.com/office/powerpoint/2010/main" val="89865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1: Authentication &amp; Account Management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6" y="280450"/>
            <a:ext cx="10780722" cy="6297099"/>
            <a:chOff x="707766" y="280450"/>
            <a:chExt cx="10780722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6" y="280451"/>
              <a:ext cx="10780722" cy="6297098"/>
              <a:chOff x="707766" y="280451"/>
              <a:chExt cx="10780722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6" y="6269771"/>
                <a:ext cx="10780722" cy="307778"/>
                <a:chOff x="707766" y="6269771"/>
                <a:chExt cx="10780722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6" y="6269772"/>
                  <a:ext cx="51213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Secure Authentication Flow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6/16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478125" y="280450"/>
              <a:ext cx="1006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Features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3ED5CC-A874-4DE1-8984-808C2B4B6197}"/>
              </a:ext>
            </a:extLst>
          </p:cNvPr>
          <p:cNvCxnSpPr>
            <a:cxnSpLocks/>
          </p:cNvCxnSpPr>
          <p:nvPr/>
        </p:nvCxnSpPr>
        <p:spPr>
          <a:xfrm>
            <a:off x="619255" y="2514279"/>
            <a:ext cx="109981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9F6C07-514C-4BE0-8F67-23F9C81D0B5A}"/>
              </a:ext>
            </a:extLst>
          </p:cNvPr>
          <p:cNvGrpSpPr/>
          <p:nvPr/>
        </p:nvGrpSpPr>
        <p:grpSpPr>
          <a:xfrm>
            <a:off x="841599" y="2292685"/>
            <a:ext cx="2103120" cy="2942789"/>
            <a:chOff x="1476490" y="3366558"/>
            <a:chExt cx="2103120" cy="2942789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D3BF82FA-80FB-4863-8BBC-30AC18E3B075}"/>
                </a:ext>
              </a:extLst>
            </p:cNvPr>
            <p:cNvSpPr/>
            <p:nvPr/>
          </p:nvSpPr>
          <p:spPr>
            <a:xfrm>
              <a:off x="2227554" y="3366558"/>
              <a:ext cx="457200" cy="457200"/>
            </a:xfrm>
            <a:prstGeom prst="flowChartConnector">
              <a:avLst/>
            </a:prstGeom>
            <a:solidFill>
              <a:srgbClr val="1438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6E4D21-C6E2-495B-AC95-4D648DF3A3AA}"/>
                </a:ext>
              </a:extLst>
            </p:cNvPr>
            <p:cNvSpPr txBox="1"/>
            <p:nvPr/>
          </p:nvSpPr>
          <p:spPr>
            <a:xfrm>
              <a:off x="1476490" y="4001023"/>
              <a:ext cx="210312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Registration</a:t>
              </a:r>
            </a:p>
            <a:p>
              <a:pPr algn="ctr"/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User registers with a name, username, email, password and a role.</a:t>
              </a: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Passwords are hashed with bcrypt before database storage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35D41C-E8F0-43AE-8191-7CAF2463EF56}"/>
              </a:ext>
            </a:extLst>
          </p:cNvPr>
          <p:cNvGrpSpPr/>
          <p:nvPr/>
        </p:nvGrpSpPr>
        <p:grpSpPr>
          <a:xfrm>
            <a:off x="6610481" y="2292685"/>
            <a:ext cx="2103120" cy="2727346"/>
            <a:chOff x="1476490" y="3366558"/>
            <a:chExt cx="2103120" cy="2727346"/>
          </a:xfrm>
        </p:grpSpPr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8456B147-4C65-4B7D-8F8A-EE788EEA8739}"/>
                </a:ext>
              </a:extLst>
            </p:cNvPr>
            <p:cNvSpPr/>
            <p:nvPr/>
          </p:nvSpPr>
          <p:spPr>
            <a:xfrm>
              <a:off x="2227554" y="3366558"/>
              <a:ext cx="457200" cy="457200"/>
            </a:xfrm>
            <a:prstGeom prst="flowChartConnector">
              <a:avLst/>
            </a:prstGeom>
            <a:solidFill>
              <a:srgbClr val="1438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E5D92D5-9740-4291-B0C6-FF0AA2F09F6C}"/>
                </a:ext>
              </a:extLst>
            </p:cNvPr>
            <p:cNvSpPr txBox="1"/>
            <p:nvPr/>
          </p:nvSpPr>
          <p:spPr>
            <a:xfrm>
              <a:off x="1476490" y="4001023"/>
              <a:ext cx="210312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Auto Login</a:t>
              </a:r>
            </a:p>
            <a:p>
              <a:pPr algn="ctr"/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Secure client-side storage persists the token. App boot reads and validates the key to bypass login screens dynamically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09FB46-2AB4-4CDF-9E8D-B0070BF20881}"/>
              </a:ext>
            </a:extLst>
          </p:cNvPr>
          <p:cNvGrpSpPr/>
          <p:nvPr/>
        </p:nvGrpSpPr>
        <p:grpSpPr>
          <a:xfrm>
            <a:off x="9494923" y="2292685"/>
            <a:ext cx="2103120" cy="2727346"/>
            <a:chOff x="1476490" y="3366558"/>
            <a:chExt cx="2103120" cy="2727346"/>
          </a:xfrm>
        </p:grpSpPr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8783FC5E-4791-4D4C-9507-3A8D7F8F7E5F}"/>
                </a:ext>
              </a:extLst>
            </p:cNvPr>
            <p:cNvSpPr/>
            <p:nvPr/>
          </p:nvSpPr>
          <p:spPr>
            <a:xfrm>
              <a:off x="2227554" y="3366558"/>
              <a:ext cx="457200" cy="457200"/>
            </a:xfrm>
            <a:prstGeom prst="flowChartConnector">
              <a:avLst/>
            </a:prstGeom>
            <a:solidFill>
              <a:srgbClr val="1438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0EB7DD0-8E2C-4670-9291-E0EFC966A327}"/>
                </a:ext>
              </a:extLst>
            </p:cNvPr>
            <p:cNvSpPr txBox="1"/>
            <p:nvPr/>
          </p:nvSpPr>
          <p:spPr>
            <a:xfrm>
              <a:off x="1476490" y="4001023"/>
              <a:ext cx="210312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Role Routing</a:t>
              </a:r>
            </a:p>
            <a:p>
              <a:pPr algn="ctr"/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Custom server-side guards block API access. Patient cannot fetch caregiver routes, ensuring complete data security.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C008456-D620-4F17-BDB6-D66451A7B5FE}"/>
              </a:ext>
            </a:extLst>
          </p:cNvPr>
          <p:cNvGrpSpPr/>
          <p:nvPr/>
        </p:nvGrpSpPr>
        <p:grpSpPr>
          <a:xfrm>
            <a:off x="3726040" y="2292685"/>
            <a:ext cx="2103120" cy="2727346"/>
            <a:chOff x="1476490" y="3366558"/>
            <a:chExt cx="2103120" cy="2727346"/>
          </a:xfrm>
        </p:grpSpPr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300DD424-BEA3-4FF8-9C26-440992540EB9}"/>
                </a:ext>
              </a:extLst>
            </p:cNvPr>
            <p:cNvSpPr/>
            <p:nvPr/>
          </p:nvSpPr>
          <p:spPr>
            <a:xfrm>
              <a:off x="2227554" y="3366558"/>
              <a:ext cx="457200" cy="457200"/>
            </a:xfrm>
            <a:prstGeom prst="flowChartConnector">
              <a:avLst/>
            </a:prstGeom>
            <a:solidFill>
              <a:srgbClr val="1438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901998-39E6-429A-B1BF-4319AC07A793}"/>
                </a:ext>
              </a:extLst>
            </p:cNvPr>
            <p:cNvSpPr txBox="1"/>
            <p:nvPr/>
          </p:nvSpPr>
          <p:spPr>
            <a:xfrm>
              <a:off x="1476490" y="4001023"/>
              <a:ext cx="210312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Signed Token</a:t>
              </a:r>
            </a:p>
            <a:p>
              <a:pPr algn="ctr"/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Login generates a stateless JWT containing payload ID and permissions. Every protected route re-verifies it per request.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824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2: Flexible Medication Management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7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06344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Medication Management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7/16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478125" y="280450"/>
              <a:ext cx="1006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Features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8A19256-E883-428C-AB5C-CFE9E5421559}"/>
              </a:ext>
            </a:extLst>
          </p:cNvPr>
          <p:cNvSpPr txBox="1"/>
          <p:nvPr/>
        </p:nvSpPr>
        <p:spPr>
          <a:xfrm>
            <a:off x="707766" y="1908483"/>
            <a:ext cx="50634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Full CRUD on medications, scoped strictly to the authorized patient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Four scheduling modes</a:t>
            </a:r>
          </a:p>
          <a:p>
            <a:endParaRPr lang="en-US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Optional start/end dates window, dosing instructions, doctor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Optional inventory tracking: current quantity, refill threshold, last refill date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Archive medications instead of deleting them, adherence history is preserved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53B648-A3E2-4452-BEEE-776FAEAF1403}"/>
              </a:ext>
            </a:extLst>
          </p:cNvPr>
          <p:cNvGrpSpPr/>
          <p:nvPr/>
        </p:nvGrpSpPr>
        <p:grpSpPr>
          <a:xfrm>
            <a:off x="5917726" y="2488334"/>
            <a:ext cx="5063445" cy="594107"/>
            <a:chOff x="5917733" y="2517857"/>
            <a:chExt cx="5063445" cy="59410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3D06A5C-F892-4403-8063-79911EB0E3B5}"/>
                </a:ext>
              </a:extLst>
            </p:cNvPr>
            <p:cNvSpPr/>
            <p:nvPr/>
          </p:nvSpPr>
          <p:spPr>
            <a:xfrm>
              <a:off x="5917733" y="2517857"/>
              <a:ext cx="5063445" cy="594107"/>
            </a:xfrm>
            <a:prstGeom prst="roundRect">
              <a:avLst>
                <a:gd name="adj" fmla="val 25088"/>
              </a:avLst>
            </a:prstGeom>
            <a:solidFill>
              <a:srgbClr val="143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Daily</a:t>
              </a:r>
            </a:p>
          </p:txBody>
        </p:sp>
        <p:pic>
          <p:nvPicPr>
            <p:cNvPr id="28" name="Image 0" descr="icons/clock_white.png">
              <a:extLst>
                <a:ext uri="{FF2B5EF4-FFF2-40B4-BE49-F238E27FC236}">
                  <a16:creationId xmlns:a16="http://schemas.microsoft.com/office/drawing/2014/main" id="{90280E20-2642-426F-92C6-F129F1A9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096000" y="2622886"/>
              <a:ext cx="384048" cy="384048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593461-C3EB-40D6-B087-7214765B9CEE}"/>
              </a:ext>
            </a:extLst>
          </p:cNvPr>
          <p:cNvGrpSpPr/>
          <p:nvPr/>
        </p:nvGrpSpPr>
        <p:grpSpPr>
          <a:xfrm>
            <a:off x="5917726" y="3326406"/>
            <a:ext cx="5063445" cy="594107"/>
            <a:chOff x="5917733" y="2517857"/>
            <a:chExt cx="5063445" cy="594107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570C319-9DA3-438D-849F-34A090C56493}"/>
                </a:ext>
              </a:extLst>
            </p:cNvPr>
            <p:cNvSpPr/>
            <p:nvPr/>
          </p:nvSpPr>
          <p:spPr>
            <a:xfrm>
              <a:off x="5917733" y="2517857"/>
              <a:ext cx="5063445" cy="594107"/>
            </a:xfrm>
            <a:prstGeom prst="roundRect">
              <a:avLst>
                <a:gd name="adj" fmla="val 25088"/>
              </a:avLst>
            </a:prstGeom>
            <a:solidFill>
              <a:srgbClr val="143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Specific Days</a:t>
              </a:r>
            </a:p>
          </p:txBody>
        </p:sp>
        <p:pic>
          <p:nvPicPr>
            <p:cNvPr id="32" name="Image 0" descr="icons/clock_white.png">
              <a:extLst>
                <a:ext uri="{FF2B5EF4-FFF2-40B4-BE49-F238E27FC236}">
                  <a16:creationId xmlns:a16="http://schemas.microsoft.com/office/drawing/2014/main" id="{FF08B9E2-25D7-4166-9233-076AC4C4A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096000" y="2622886"/>
              <a:ext cx="384048" cy="38404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C6CE159-DB3C-439C-9FB5-051C3003B79B}"/>
              </a:ext>
            </a:extLst>
          </p:cNvPr>
          <p:cNvGrpSpPr/>
          <p:nvPr/>
        </p:nvGrpSpPr>
        <p:grpSpPr>
          <a:xfrm>
            <a:off x="5917726" y="4164480"/>
            <a:ext cx="5063445" cy="594107"/>
            <a:chOff x="5917733" y="2517857"/>
            <a:chExt cx="5063445" cy="594107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86BE1C8-A609-4DA4-959F-D05234DFA0B8}"/>
                </a:ext>
              </a:extLst>
            </p:cNvPr>
            <p:cNvSpPr/>
            <p:nvPr/>
          </p:nvSpPr>
          <p:spPr>
            <a:xfrm>
              <a:off x="5917733" y="2517857"/>
              <a:ext cx="5063445" cy="594107"/>
            </a:xfrm>
            <a:prstGeom prst="roundRect">
              <a:avLst>
                <a:gd name="adj" fmla="val 25088"/>
              </a:avLst>
            </a:prstGeom>
            <a:solidFill>
              <a:srgbClr val="143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Fixed interval</a:t>
              </a:r>
            </a:p>
          </p:txBody>
        </p:sp>
        <p:pic>
          <p:nvPicPr>
            <p:cNvPr id="54" name="Image 0" descr="icons/clock_white.png">
              <a:extLst>
                <a:ext uri="{FF2B5EF4-FFF2-40B4-BE49-F238E27FC236}">
                  <a16:creationId xmlns:a16="http://schemas.microsoft.com/office/drawing/2014/main" id="{E54615D8-DDBF-4D1A-9857-99A4E8D93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096000" y="2622886"/>
              <a:ext cx="384048" cy="384048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F26BABD-F35B-4EC0-9A2F-F06C71D8ED4A}"/>
              </a:ext>
            </a:extLst>
          </p:cNvPr>
          <p:cNvGrpSpPr/>
          <p:nvPr/>
        </p:nvGrpSpPr>
        <p:grpSpPr>
          <a:xfrm>
            <a:off x="5917726" y="5002552"/>
            <a:ext cx="5063445" cy="594107"/>
            <a:chOff x="5917733" y="2517857"/>
            <a:chExt cx="5063445" cy="594107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40CAD68-8445-44D9-9FC7-6F3AFDA54FDE}"/>
                </a:ext>
              </a:extLst>
            </p:cNvPr>
            <p:cNvSpPr/>
            <p:nvPr/>
          </p:nvSpPr>
          <p:spPr>
            <a:xfrm>
              <a:off x="5917733" y="2517857"/>
              <a:ext cx="5063445" cy="594107"/>
            </a:xfrm>
            <a:prstGeom prst="roundRect">
              <a:avLst>
                <a:gd name="adj" fmla="val 25088"/>
              </a:avLst>
            </a:prstGeom>
            <a:solidFill>
              <a:srgbClr val="143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As-Needed (PRN)</a:t>
              </a:r>
            </a:p>
          </p:txBody>
        </p:sp>
        <p:pic>
          <p:nvPicPr>
            <p:cNvPr id="57" name="Image 0" descr="icons/clock_white.png">
              <a:extLst>
                <a:ext uri="{FF2B5EF4-FFF2-40B4-BE49-F238E27FC236}">
                  <a16:creationId xmlns:a16="http://schemas.microsoft.com/office/drawing/2014/main" id="{B9C47DF8-E22B-473B-AFF6-545CD6606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096000" y="2622886"/>
              <a:ext cx="384048" cy="384048"/>
            </a:xfrm>
            <a:prstGeom prst="rect">
              <a:avLst/>
            </a:prstGeom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90F12827-BFF2-475D-BCE7-E3E0D36E57C7}"/>
              </a:ext>
            </a:extLst>
          </p:cNvPr>
          <p:cNvSpPr txBox="1"/>
          <p:nvPr/>
        </p:nvSpPr>
        <p:spPr>
          <a:xfrm>
            <a:off x="5917726" y="1875036"/>
            <a:ext cx="506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Scheduling Modes:</a:t>
            </a:r>
          </a:p>
        </p:txBody>
      </p:sp>
    </p:spTree>
    <p:extLst>
      <p:ext uri="{BB962C8B-B14F-4D97-AF65-F5344CB8AC3E}">
        <p14:creationId xmlns:p14="http://schemas.microsoft.com/office/powerpoint/2010/main" val="105877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3: Daily Schedule &amp; Dose Logging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6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06344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Task Orchestration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8/16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478125" y="280450"/>
              <a:ext cx="1006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Features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8A19256-E883-428C-AB5C-CFE9E5421559}"/>
              </a:ext>
            </a:extLst>
          </p:cNvPr>
          <p:cNvSpPr txBox="1"/>
          <p:nvPr/>
        </p:nvSpPr>
        <p:spPr>
          <a:xfrm>
            <a:off x="707766" y="1559734"/>
            <a:ext cx="506344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1-Tap instant logging:</a:t>
            </a:r>
            <a:b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6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doses due on any calendar date are computed on demand using medication frequency metadata. Logging is done instantly with clean timestamps.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No-duplication constraints:</a:t>
            </a:r>
            <a:b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6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compound unique index (medication ID + date + time) runs natively at database level, preventing duplicate entries on rapid tapping.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Automated inventory logic:</a:t>
            </a:r>
            <a:b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6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Logging a dose automatically decrements medication stock levels. Alerts warn the patient when stock drops below custom refill thresholds.</a:t>
            </a:r>
            <a:endParaRPr lang="en-US" b="1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3D06A5C-F892-4403-8063-79911EB0E3B5}"/>
              </a:ext>
            </a:extLst>
          </p:cNvPr>
          <p:cNvSpPr/>
          <p:nvPr/>
        </p:nvSpPr>
        <p:spPr>
          <a:xfrm>
            <a:off x="5917723" y="2135928"/>
            <a:ext cx="5063445" cy="1097280"/>
          </a:xfrm>
          <a:prstGeom prst="roundRect">
            <a:avLst>
              <a:gd name="adj" fmla="val 25088"/>
            </a:avLst>
          </a:prstGeom>
          <a:solidFill>
            <a:srgbClr val="16A3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Taken</a:t>
            </a:r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570C319-9DA3-438D-849F-34A090C56493}"/>
              </a:ext>
            </a:extLst>
          </p:cNvPr>
          <p:cNvSpPr/>
          <p:nvPr/>
        </p:nvSpPr>
        <p:spPr>
          <a:xfrm>
            <a:off x="5917726" y="3416876"/>
            <a:ext cx="5063445" cy="1097280"/>
          </a:xfrm>
          <a:prstGeom prst="roundRect">
            <a:avLst>
              <a:gd name="adj" fmla="val 25088"/>
            </a:avLst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Skipped</a:t>
            </a:r>
          </a:p>
        </p:txBody>
      </p:sp>
      <p:pic>
        <p:nvPicPr>
          <p:cNvPr id="32" name="Image 0" descr="icons/clock_white.png">
            <a:extLst>
              <a:ext uri="{FF2B5EF4-FFF2-40B4-BE49-F238E27FC236}">
                <a16:creationId xmlns:a16="http://schemas.microsoft.com/office/drawing/2014/main" id="{FF08B9E2-25D7-4166-9233-076AC4C4A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307" y="3778117"/>
            <a:ext cx="384048" cy="384048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6BE1C8-A609-4DA4-959F-D05234DFA0B8}"/>
              </a:ext>
            </a:extLst>
          </p:cNvPr>
          <p:cNvSpPr/>
          <p:nvPr/>
        </p:nvSpPr>
        <p:spPr>
          <a:xfrm>
            <a:off x="5917722" y="4697825"/>
            <a:ext cx="5063445" cy="1097280"/>
          </a:xfrm>
          <a:prstGeom prst="roundRect">
            <a:avLst>
              <a:gd name="adj" fmla="val 25088"/>
            </a:avLst>
          </a:prstGeom>
          <a:solidFill>
            <a:srgbClr val="DC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Missed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F12827-BFF2-475D-BCE7-E3E0D36E57C7}"/>
              </a:ext>
            </a:extLst>
          </p:cNvPr>
          <p:cNvSpPr txBox="1"/>
          <p:nvPr/>
        </p:nvSpPr>
        <p:spPr>
          <a:xfrm>
            <a:off x="5917726" y="1559734"/>
            <a:ext cx="506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Dose statuses</a:t>
            </a:r>
          </a:p>
        </p:txBody>
      </p:sp>
      <p:pic>
        <p:nvPicPr>
          <p:cNvPr id="29" name="Image 2" descr="icons/warn_white.png">
            <a:extLst>
              <a:ext uri="{FF2B5EF4-FFF2-40B4-BE49-F238E27FC236}">
                <a16:creationId xmlns:a16="http://schemas.microsoft.com/office/drawing/2014/main" id="{41AC4056-5020-43C4-BBB8-50DA85E3D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307" y="5045297"/>
            <a:ext cx="402336" cy="402336"/>
          </a:xfrm>
          <a:prstGeom prst="rect">
            <a:avLst/>
          </a:prstGeom>
        </p:spPr>
      </p:pic>
      <p:pic>
        <p:nvPicPr>
          <p:cNvPr id="35" name="Image 0" descr="icons/check_white.png">
            <a:extLst>
              <a:ext uri="{FF2B5EF4-FFF2-40B4-BE49-F238E27FC236}">
                <a16:creationId xmlns:a16="http://schemas.microsoft.com/office/drawing/2014/main" id="{536BCDAB-0AAA-45CF-B32F-7A8AD1A9D6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307" y="2479468"/>
            <a:ext cx="402336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2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4: Missed-Dose Detection Engine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8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06344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Automated Escalate Flow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824656" y="6269771"/>
                  <a:ext cx="66383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9/16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478125" y="280450"/>
              <a:ext cx="1006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Features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2A5C5F-90AF-4312-A591-422F9B0A16E0}"/>
              </a:ext>
            </a:extLst>
          </p:cNvPr>
          <p:cNvCxnSpPr>
            <a:cxnSpLocks/>
          </p:cNvCxnSpPr>
          <p:nvPr/>
        </p:nvCxnSpPr>
        <p:spPr>
          <a:xfrm>
            <a:off x="619255" y="2514279"/>
            <a:ext cx="109981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1B3407-1CBD-403A-A464-1AC59A066178}"/>
              </a:ext>
            </a:extLst>
          </p:cNvPr>
          <p:cNvGrpSpPr/>
          <p:nvPr/>
        </p:nvGrpSpPr>
        <p:grpSpPr>
          <a:xfrm>
            <a:off x="6343505" y="2292685"/>
            <a:ext cx="2286000" cy="2788901"/>
            <a:chOff x="1476490" y="3366558"/>
            <a:chExt cx="2286000" cy="2788901"/>
          </a:xfrm>
        </p:grpSpPr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2B3EAA07-1E48-4CD9-A6E7-B942B110330C}"/>
                </a:ext>
              </a:extLst>
            </p:cNvPr>
            <p:cNvSpPr/>
            <p:nvPr/>
          </p:nvSpPr>
          <p:spPr>
            <a:xfrm>
              <a:off x="2390890" y="3366558"/>
              <a:ext cx="457200" cy="457200"/>
            </a:xfrm>
            <a:prstGeom prst="flowChartConnector">
              <a:avLst/>
            </a:prstGeom>
            <a:solidFill>
              <a:srgbClr val="1438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B0B72B2-4D26-4CAD-9832-1478E10B68EF}"/>
                </a:ext>
              </a:extLst>
            </p:cNvPr>
            <p:cNvSpPr txBox="1"/>
            <p:nvPr/>
          </p:nvSpPr>
          <p:spPr>
            <a:xfrm>
              <a:off x="1476490" y="4001023"/>
              <a:ext cx="2286000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30-min grace period</a:t>
              </a:r>
            </a:p>
            <a:p>
              <a:pPr algn="ctr"/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The system waits 30 minutes. The patient can mark the dose “Taken” or “Skipped” to satisfy the active schedule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C5EF97-EE2E-4035-9496-3FE51C4D8181}"/>
              </a:ext>
            </a:extLst>
          </p:cNvPr>
          <p:cNvGrpSpPr/>
          <p:nvPr/>
        </p:nvGrpSpPr>
        <p:grpSpPr>
          <a:xfrm>
            <a:off x="9227947" y="2292685"/>
            <a:ext cx="2286000" cy="2788901"/>
            <a:chOff x="1476490" y="3366558"/>
            <a:chExt cx="2286000" cy="2788901"/>
          </a:xfrm>
        </p:grpSpPr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C152CAD5-1889-4DEA-A606-5D6E9AB50E9C}"/>
                </a:ext>
              </a:extLst>
            </p:cNvPr>
            <p:cNvSpPr/>
            <p:nvPr/>
          </p:nvSpPr>
          <p:spPr>
            <a:xfrm>
              <a:off x="2390890" y="3366558"/>
              <a:ext cx="457200" cy="457200"/>
            </a:xfrm>
            <a:prstGeom prst="flowChartConnector">
              <a:avLst/>
            </a:prstGeom>
            <a:solidFill>
              <a:srgbClr val="1438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3A7A44-52FD-412A-8EF2-857CF09B6B4E}"/>
                </a:ext>
              </a:extLst>
            </p:cNvPr>
            <p:cNvSpPr txBox="1"/>
            <p:nvPr/>
          </p:nvSpPr>
          <p:spPr>
            <a:xfrm>
              <a:off x="1476490" y="4001023"/>
              <a:ext cx="2286000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Escalate to caregiver</a:t>
              </a:r>
            </a:p>
            <a:p>
              <a:pPr algn="ctr"/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If unlogged after 30 minutes, the engine logs “Missed” and pushes high priority alerts to all approved caregivers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9CC177-7740-4172-BCF7-A07A9CDAB0CD}"/>
              </a:ext>
            </a:extLst>
          </p:cNvPr>
          <p:cNvGrpSpPr/>
          <p:nvPr/>
        </p:nvGrpSpPr>
        <p:grpSpPr>
          <a:xfrm>
            <a:off x="3459064" y="2292685"/>
            <a:ext cx="2286000" cy="2358014"/>
            <a:chOff x="1476490" y="3366558"/>
            <a:chExt cx="2286000" cy="2358014"/>
          </a:xfrm>
        </p:grpSpPr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E1126036-1DF9-482F-978B-CF0D45F030B9}"/>
                </a:ext>
              </a:extLst>
            </p:cNvPr>
            <p:cNvSpPr/>
            <p:nvPr/>
          </p:nvSpPr>
          <p:spPr>
            <a:xfrm>
              <a:off x="2390890" y="3366558"/>
              <a:ext cx="457200" cy="457200"/>
            </a:xfrm>
            <a:prstGeom prst="flowChartConnector">
              <a:avLst/>
            </a:prstGeom>
            <a:solidFill>
              <a:srgbClr val="1438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B3D03B2-C131-44B0-B64D-2F30D9E829FB}"/>
                </a:ext>
              </a:extLst>
            </p:cNvPr>
            <p:cNvSpPr txBox="1"/>
            <p:nvPr/>
          </p:nvSpPr>
          <p:spPr>
            <a:xfrm>
              <a:off x="1476490" y="4001023"/>
              <a:ext cx="2286000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Patient reminder</a:t>
              </a:r>
            </a:p>
            <a:p>
              <a:pPr algn="ctr"/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System sends a local push notification to the patient at the exact scheduled time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AFF6EA9-90CC-4AEC-805C-4D88125488D6}"/>
              </a:ext>
            </a:extLst>
          </p:cNvPr>
          <p:cNvGrpSpPr/>
          <p:nvPr/>
        </p:nvGrpSpPr>
        <p:grpSpPr>
          <a:xfrm>
            <a:off x="574623" y="1941817"/>
            <a:ext cx="2286000" cy="3139769"/>
            <a:chOff x="574623" y="1941817"/>
            <a:chExt cx="2286000" cy="313976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644AAA9-B083-42F1-8BAB-11D731C24909}"/>
                </a:ext>
              </a:extLst>
            </p:cNvPr>
            <p:cNvGrpSpPr/>
            <p:nvPr/>
          </p:nvGrpSpPr>
          <p:grpSpPr>
            <a:xfrm>
              <a:off x="574623" y="2292685"/>
              <a:ext cx="2286000" cy="2788901"/>
              <a:chOff x="1476490" y="3366558"/>
              <a:chExt cx="2286000" cy="2788901"/>
            </a:xfrm>
          </p:grpSpPr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E9F6D408-551A-40E2-9586-D9F3CE0D2C48}"/>
                  </a:ext>
                </a:extLst>
              </p:cNvPr>
              <p:cNvSpPr/>
              <p:nvPr/>
            </p:nvSpPr>
            <p:spPr>
              <a:xfrm>
                <a:off x="2390890" y="3366558"/>
                <a:ext cx="457200" cy="457200"/>
              </a:xfrm>
              <a:prstGeom prst="flowChartConnector">
                <a:avLst/>
              </a:prstGeom>
              <a:solidFill>
                <a:srgbClr val="14387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23FC4C-E36A-40B7-AACB-B4E8FB5DA7E8}"/>
                  </a:ext>
                </a:extLst>
              </p:cNvPr>
              <p:cNvSpPr txBox="1"/>
              <p:nvPr/>
            </p:nvSpPr>
            <p:spPr>
              <a:xfrm>
                <a:off x="1476490" y="4001023"/>
                <a:ext cx="2286000" cy="2154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2C3E5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1-min cron tick</a:t>
                </a:r>
              </a:p>
              <a:p>
                <a:pPr algn="ctr"/>
                <a:endParaRPr lang="en-US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/>
                <a:endParaRPr lang="en-US" sz="1400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2C3E5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Node-Cron service runs continuously in the API background, checking all medications scheduled for the current minute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59206B4-F52A-4199-B7AB-9B35D26711A0}"/>
                </a:ext>
              </a:extLst>
            </p:cNvPr>
            <p:cNvSpPr txBox="1"/>
            <p:nvPr/>
          </p:nvSpPr>
          <p:spPr>
            <a:xfrm>
              <a:off x="574623" y="1941817"/>
              <a:ext cx="228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2C3E50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Trigger</a:t>
              </a:r>
              <a:endPara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18E5B9E6-5B8C-403C-941F-C85E4AC22612}"/>
              </a:ext>
            </a:extLst>
          </p:cNvPr>
          <p:cNvSpPr txBox="1"/>
          <p:nvPr/>
        </p:nvSpPr>
        <p:spPr>
          <a:xfrm>
            <a:off x="3459064" y="1943686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Dispatch</a:t>
            </a:r>
            <a:endParaRPr lang="en-US" sz="1400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83DA68-8F37-4756-8110-76EFF9FA2BD1}"/>
              </a:ext>
            </a:extLst>
          </p:cNvPr>
          <p:cNvSpPr txBox="1"/>
          <p:nvPr/>
        </p:nvSpPr>
        <p:spPr>
          <a:xfrm>
            <a:off x="9227946" y="1945428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Alert Escalation</a:t>
            </a:r>
            <a:endParaRPr lang="en-US" sz="1400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057AC4-D34D-44A5-BA15-CAB704F6A299}"/>
              </a:ext>
            </a:extLst>
          </p:cNvPr>
          <p:cNvSpPr txBox="1"/>
          <p:nvPr/>
        </p:nvSpPr>
        <p:spPr>
          <a:xfrm>
            <a:off x="6343505" y="1941817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Grace period</a:t>
            </a:r>
            <a:endParaRPr lang="en-US" sz="1400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79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5: Chronological Adherence History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6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06344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Chronological ledger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744201" y="6269771"/>
                  <a:ext cx="74428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10/16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478125" y="280450"/>
              <a:ext cx="1006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Features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C418925-C6D0-4BBD-A89F-B36C20D7E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13096"/>
            <a:ext cx="5852160" cy="176451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696E9BA3-B6D5-43C9-B3AC-5C6B19FC06B8}"/>
              </a:ext>
            </a:extLst>
          </p:cNvPr>
          <p:cNvSpPr txBox="1"/>
          <p:nvPr/>
        </p:nvSpPr>
        <p:spPr>
          <a:xfrm>
            <a:off x="707766" y="2394971"/>
            <a:ext cx="519658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Unlike simple reminders, MediTracker keeps a permanent auditable log of patient actions.</a:t>
            </a:r>
          </a:p>
          <a:p>
            <a:endParaRPr lang="en-US" sz="1400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Security Audited:</a:t>
            </a:r>
            <a:br>
              <a:rPr lang="en-US" sz="1400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Approved connection links are re-validated server-side on every ledger query, preventing cached caregiver access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b="1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Including Auto-Missed Logs:</a:t>
            </a:r>
            <a:br>
              <a:rPr lang="en-US" b="1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history reports both patient logs and engine-inferred missed events, giving an honest look at adherence</a:t>
            </a:r>
            <a:endParaRPr lang="en-US" b="1" dirty="0">
              <a:solidFill>
                <a:srgbClr val="2C3E5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600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6: Patient-Caregiver linking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6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66255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Patient-Caregiver Connection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744201" y="6269771"/>
                  <a:ext cx="74428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11/16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478125" y="280450"/>
              <a:ext cx="1006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Features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96E9BA3-B6D5-43C9-B3AC-5C6B19FC06B8}"/>
              </a:ext>
            </a:extLst>
          </p:cNvPr>
          <p:cNvSpPr txBox="1"/>
          <p:nvPr/>
        </p:nvSpPr>
        <p:spPr>
          <a:xfrm>
            <a:off x="707766" y="1781530"/>
            <a:ext cx="6816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 explicit consent-based relationship — not a passive contact list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09461B-3854-4F45-9C4F-2E3BC9BB72ED}"/>
              </a:ext>
            </a:extLst>
          </p:cNvPr>
          <p:cNvSpPr/>
          <p:nvPr/>
        </p:nvSpPr>
        <p:spPr>
          <a:xfrm>
            <a:off x="707766" y="3717490"/>
            <a:ext cx="2156378" cy="86867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Pending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2EC20E-1431-4ACB-BD24-82BB7D4926EE}"/>
              </a:ext>
            </a:extLst>
          </p:cNvPr>
          <p:cNvSpPr/>
          <p:nvPr/>
        </p:nvSpPr>
        <p:spPr>
          <a:xfrm>
            <a:off x="9162784" y="2549899"/>
            <a:ext cx="2156378" cy="868679"/>
          </a:xfrm>
          <a:prstGeom prst="roundRect">
            <a:avLst/>
          </a:prstGeom>
          <a:solidFill>
            <a:srgbClr val="2626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Revoked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94D00E-6763-4167-A70B-11599A1BB3F1}"/>
              </a:ext>
            </a:extLst>
          </p:cNvPr>
          <p:cNvSpPr/>
          <p:nvPr/>
        </p:nvSpPr>
        <p:spPr>
          <a:xfrm>
            <a:off x="5017809" y="4883626"/>
            <a:ext cx="2156378" cy="868679"/>
          </a:xfrm>
          <a:prstGeom prst="roundRect">
            <a:avLst/>
          </a:prstGeom>
          <a:solidFill>
            <a:srgbClr val="DC26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Rejected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303CE55-1391-4DDC-9A7C-E45E62B369EC}"/>
              </a:ext>
            </a:extLst>
          </p:cNvPr>
          <p:cNvSpPr/>
          <p:nvPr/>
        </p:nvSpPr>
        <p:spPr>
          <a:xfrm>
            <a:off x="5017809" y="2549900"/>
            <a:ext cx="2156378" cy="868679"/>
          </a:xfrm>
          <a:prstGeom prst="roundRect">
            <a:avLst/>
          </a:prstGeom>
          <a:solidFill>
            <a:srgbClr val="16A3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Approved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B389512-2B11-4C9D-9B4E-7196A9F07AB2}"/>
              </a:ext>
            </a:extLst>
          </p:cNvPr>
          <p:cNvCxnSpPr>
            <a:stCxn id="2" idx="3"/>
            <a:endCxn id="18" idx="1"/>
          </p:cNvCxnSpPr>
          <p:nvPr/>
        </p:nvCxnSpPr>
        <p:spPr>
          <a:xfrm flipV="1">
            <a:off x="2864144" y="2984240"/>
            <a:ext cx="2153665" cy="116759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61439C-62F3-454A-A986-4AC27AC6EE83}"/>
              </a:ext>
            </a:extLst>
          </p:cNvPr>
          <p:cNvCxnSpPr>
            <a:stCxn id="2" idx="3"/>
            <a:endCxn id="17" idx="1"/>
          </p:cNvCxnSpPr>
          <p:nvPr/>
        </p:nvCxnSpPr>
        <p:spPr>
          <a:xfrm>
            <a:off x="2864144" y="4151830"/>
            <a:ext cx="2153665" cy="1166136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B5233A-FEB9-4D4F-A91A-376D279FE5C1}"/>
              </a:ext>
            </a:extLst>
          </p:cNvPr>
          <p:cNvCxnSpPr>
            <a:stCxn id="18" idx="3"/>
            <a:endCxn id="16" idx="1"/>
          </p:cNvCxnSpPr>
          <p:nvPr/>
        </p:nvCxnSpPr>
        <p:spPr>
          <a:xfrm flipV="1">
            <a:off x="7174187" y="2984239"/>
            <a:ext cx="1988597" cy="1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BB2EAE5-4264-42DC-9F52-69A8A915B712}"/>
              </a:ext>
            </a:extLst>
          </p:cNvPr>
          <p:cNvSpPr txBox="1"/>
          <p:nvPr/>
        </p:nvSpPr>
        <p:spPr>
          <a:xfrm>
            <a:off x="2458574" y="3026955"/>
            <a:ext cx="216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Respond -&gt; approved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1B2592-10C9-44B4-A2F7-D3BC2FD04B38}"/>
              </a:ext>
            </a:extLst>
          </p:cNvPr>
          <p:cNvSpPr txBox="1"/>
          <p:nvPr/>
        </p:nvSpPr>
        <p:spPr>
          <a:xfrm>
            <a:off x="2667164" y="5002748"/>
            <a:ext cx="216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Respond -&gt; rejected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8591DE-F0B4-4DFF-96DC-BB7768A74634}"/>
              </a:ext>
            </a:extLst>
          </p:cNvPr>
          <p:cNvSpPr txBox="1"/>
          <p:nvPr/>
        </p:nvSpPr>
        <p:spPr>
          <a:xfrm>
            <a:off x="7661288" y="3029003"/>
            <a:ext cx="1014394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Revoke()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BDAD4E-D26F-416A-AD99-5475EE9CE3D7}"/>
              </a:ext>
            </a:extLst>
          </p:cNvPr>
          <p:cNvCxnSpPr>
            <a:stCxn id="17" idx="3"/>
          </p:cNvCxnSpPr>
          <p:nvPr/>
        </p:nvCxnSpPr>
        <p:spPr>
          <a:xfrm flipV="1">
            <a:off x="7174187" y="5310525"/>
            <a:ext cx="1988597" cy="744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2312122-BF8D-4C07-A56B-97623364623D}"/>
              </a:ext>
            </a:extLst>
          </p:cNvPr>
          <p:cNvSpPr txBox="1"/>
          <p:nvPr/>
        </p:nvSpPr>
        <p:spPr>
          <a:xfrm>
            <a:off x="7661288" y="5355288"/>
            <a:ext cx="1014394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C3E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Re-invite</a:t>
            </a:r>
          </a:p>
        </p:txBody>
      </p:sp>
    </p:spTree>
    <p:extLst>
      <p:ext uri="{BB962C8B-B14F-4D97-AF65-F5344CB8AC3E}">
        <p14:creationId xmlns:p14="http://schemas.microsoft.com/office/powerpoint/2010/main" val="366371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Technology Stack selection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6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66255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Framework selection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744201" y="6269771"/>
                  <a:ext cx="74428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12/16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256521" y="280450"/>
              <a:ext cx="12277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Technology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131DB0-328B-4099-8645-E0EFCD526CDE}"/>
              </a:ext>
            </a:extLst>
          </p:cNvPr>
          <p:cNvSpPr/>
          <p:nvPr/>
        </p:nvSpPr>
        <p:spPr>
          <a:xfrm>
            <a:off x="735675" y="1768838"/>
            <a:ext cx="2560320" cy="36576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Frontend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Native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Expo Framework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Single codebase for both android and IOS.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Push pipelines managed by native Expo SDK engines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7D9C57-F76A-40CF-BF56-04D3E3C62AF1}"/>
              </a:ext>
            </a:extLst>
          </p:cNvPr>
          <p:cNvSpPr/>
          <p:nvPr/>
        </p:nvSpPr>
        <p:spPr>
          <a:xfrm>
            <a:off x="8893167" y="1768840"/>
            <a:ext cx="2560320" cy="36576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Deployment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>
                    <a:lumMod val="95000"/>
                  </a:prst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Render</a:t>
            </a:r>
            <a:br>
              <a:rPr lang="en-US" dirty="0">
                <a:solidFill>
                  <a:prstClr val="white">
                    <a:lumMod val="95000"/>
                  </a:prst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>
                <a:solidFill>
                  <a:prstClr val="white">
                    <a:lumMod val="95000"/>
                  </a:prst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MongoDB atlas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Low cost, low maintenance hosting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1600" dirty="0">
                <a:solidFill>
                  <a:prstClr val="white">
                    <a:lumMod val="95000"/>
                  </a:prst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Perfect for an academic project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8D545F9-FAE2-4BCD-9A03-0EFA90A4362C}"/>
              </a:ext>
            </a:extLst>
          </p:cNvPr>
          <p:cNvSpPr/>
          <p:nvPr/>
        </p:nvSpPr>
        <p:spPr>
          <a:xfrm>
            <a:off x="6174003" y="1768840"/>
            <a:ext cx="2560320" cy="36576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+ security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MongoDB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>
                    <a:lumMod val="95000"/>
                  </a:prst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JWT authentication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endParaRPr lang="en-US" sz="1600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Dynamic NoSQL collections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Stateless token auth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Cryptographic bcrypt salt hides passwords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38CB43-CB41-420B-BD03-49EEC9962FD2}"/>
              </a:ext>
            </a:extLst>
          </p:cNvPr>
          <p:cNvSpPr/>
          <p:nvPr/>
        </p:nvSpPr>
        <p:spPr>
          <a:xfrm>
            <a:off x="3454839" y="1768839"/>
            <a:ext cx="2560320" cy="36576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Backend</a:t>
            </a:r>
          </a:p>
          <a:p>
            <a:endParaRPr lang="en-US" sz="2000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Node.js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>
                    <a:lumMod val="95000"/>
                  </a:prst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Express.js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endParaRPr lang="en-US" sz="1600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Unified language reduces backend integration costs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Runs low-overhead node-cron background loops</a:t>
            </a:r>
          </a:p>
        </p:txBody>
      </p:sp>
    </p:spTree>
    <p:extLst>
      <p:ext uri="{BB962C8B-B14F-4D97-AF65-F5344CB8AC3E}">
        <p14:creationId xmlns:p14="http://schemas.microsoft.com/office/powerpoint/2010/main" val="1461137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Engineering Challenges &amp; Resolutions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6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66255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Problem solving mitigation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744201" y="6269771"/>
                  <a:ext cx="74428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13/16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317481" y="280450"/>
              <a:ext cx="1166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Challenges</a:t>
              </a:r>
            </a:p>
          </p:txBody>
        </p:sp>
      </p:grp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6B68B7D-7047-4461-B29C-917251722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301157"/>
              </p:ext>
            </p:extLst>
          </p:nvPr>
        </p:nvGraphicFramePr>
        <p:xfrm>
          <a:off x="796634" y="1661159"/>
          <a:ext cx="10598733" cy="42290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17474">
                  <a:extLst>
                    <a:ext uri="{9D8B030D-6E8A-4147-A177-3AD203B41FA5}">
                      <a16:colId xmlns:a16="http://schemas.microsoft.com/office/drawing/2014/main" val="3690375815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1096163655"/>
                    </a:ext>
                  </a:extLst>
                </a:gridCol>
                <a:gridCol w="3732219">
                  <a:extLst>
                    <a:ext uri="{9D8B030D-6E8A-4147-A177-3AD203B41FA5}">
                      <a16:colId xmlns:a16="http://schemas.microsoft.com/office/drawing/2014/main" val="4102371186"/>
                    </a:ext>
                  </a:extLst>
                </a:gridCol>
              </a:tblGrid>
              <a:tr h="101345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Identified 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Technical Threat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Resolution Strategy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741692"/>
                  </a:ext>
                </a:extLst>
              </a:tr>
              <a:tr h="101345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Redundant data fetching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Dashboard rendered medications 4 times on boot, threatening API bottlenecks.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Consolidated trigger criteria in custom hooks. This reduced API calls to 2 per cycle.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32033602"/>
                  </a:ext>
                </a:extLst>
              </a:tr>
              <a:tr h="101345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Session edge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Token expiration could briefly flash private user dashboard on logout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Added a declarative auth wrapper to top-level navigation, blocking layout leaks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209526"/>
                  </a:ext>
                </a:extLst>
              </a:tr>
              <a:tr h="1013459"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Caregiver UI flickering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Routing redirection conflicts caused dashboard to flicker and sometimes app crash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Hunted bugs one by one and built a stable branch.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954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82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276812F-7C2E-4954-B9D9-AC227D4A5EFE}"/>
              </a:ext>
            </a:extLst>
          </p:cNvPr>
          <p:cNvSpPr txBox="1"/>
          <p:nvPr/>
        </p:nvSpPr>
        <p:spPr>
          <a:xfrm>
            <a:off x="707768" y="797717"/>
            <a:ext cx="105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4387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Delivered Status &amp; Roadmap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20FD1A-8263-44F2-8856-159F52F44137}"/>
              </a:ext>
            </a:extLst>
          </p:cNvPr>
          <p:cNvGrpSpPr/>
          <p:nvPr/>
        </p:nvGrpSpPr>
        <p:grpSpPr>
          <a:xfrm>
            <a:off x="707766" y="280450"/>
            <a:ext cx="10780721" cy="6297099"/>
            <a:chOff x="707767" y="280450"/>
            <a:chExt cx="10780721" cy="629709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C8357C-BB15-4167-89C7-A57F3129778B}"/>
                </a:ext>
              </a:extLst>
            </p:cNvPr>
            <p:cNvGrpSpPr/>
            <p:nvPr/>
          </p:nvGrpSpPr>
          <p:grpSpPr>
            <a:xfrm>
              <a:off x="707767" y="280451"/>
              <a:ext cx="10780721" cy="6297098"/>
              <a:chOff x="707767" y="280451"/>
              <a:chExt cx="10780721" cy="629709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B023039-AD6E-4810-96A2-965B370B68CB}"/>
                  </a:ext>
                </a:extLst>
              </p:cNvPr>
              <p:cNvGrpSpPr/>
              <p:nvPr/>
            </p:nvGrpSpPr>
            <p:grpSpPr>
              <a:xfrm>
                <a:off x="707768" y="280451"/>
                <a:ext cx="1905975" cy="307777"/>
                <a:chOff x="707768" y="570011"/>
                <a:chExt cx="1905975" cy="307777"/>
              </a:xfrm>
            </p:grpSpPr>
            <p:pic>
              <p:nvPicPr>
                <p:cNvPr id="50" name="Graphic 49" descr="Heart with pulse with solid fill">
                  <a:extLst>
                    <a:ext uri="{FF2B5EF4-FFF2-40B4-BE49-F238E27FC236}">
                      <a16:creationId xmlns:a16="http://schemas.microsoft.com/office/drawing/2014/main" id="{7CA699FA-6576-4E8F-8AB0-C50A036D1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l="13612" t="14929" r="13038" b="14746"/>
                <a:stretch/>
              </p:blipFill>
              <p:spPr>
                <a:xfrm>
                  <a:off x="707768" y="570011"/>
                  <a:ext cx="321015" cy="307777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7C95DC6-8388-4CEC-A2AA-32D3037E1BCF}"/>
                    </a:ext>
                  </a:extLst>
                </p:cNvPr>
                <p:cNvSpPr txBox="1"/>
                <p:nvPr/>
              </p:nvSpPr>
              <p:spPr>
                <a:xfrm>
                  <a:off x="1028783" y="570011"/>
                  <a:ext cx="15849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5A87FEA-000B-4F44-92EC-C3BCE800FDEB}"/>
                  </a:ext>
                </a:extLst>
              </p:cNvPr>
              <p:cNvGrpSpPr/>
              <p:nvPr/>
            </p:nvGrpSpPr>
            <p:grpSpPr>
              <a:xfrm>
                <a:off x="707767" y="6269771"/>
                <a:ext cx="10780721" cy="307778"/>
                <a:chOff x="707767" y="6269771"/>
                <a:chExt cx="10780721" cy="307778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7654D79-7D56-4660-9183-B1CE86788D5A}"/>
                    </a:ext>
                  </a:extLst>
                </p:cNvPr>
                <p:cNvSpPr txBox="1"/>
                <p:nvPr/>
              </p:nvSpPr>
              <p:spPr>
                <a:xfrm>
                  <a:off x="707767" y="6269772"/>
                  <a:ext cx="566255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14387E">
                          <a:alpha val="50000"/>
                        </a:srgb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MediTracker Presentation | Roadmap progress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CB0B99-A358-4E8C-AB15-CDD6E0E1CF41}"/>
                    </a:ext>
                  </a:extLst>
                </p:cNvPr>
                <p:cNvSpPr txBox="1"/>
                <p:nvPr/>
              </p:nvSpPr>
              <p:spPr>
                <a:xfrm>
                  <a:off x="10744201" y="6269771"/>
                  <a:ext cx="74428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2DD4C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14/16</a:t>
                  </a:r>
                </a:p>
              </p:txBody>
            </p: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E94D69A-BEB0-4789-B1E5-5129B6D99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635" y="6214353"/>
                <a:ext cx="10522528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EBD248-2403-47CA-816E-E022F45546C6}"/>
                </a:ext>
              </a:extLst>
            </p:cNvPr>
            <p:cNvSpPr txBox="1"/>
            <p:nvPr/>
          </p:nvSpPr>
          <p:spPr>
            <a:xfrm>
              <a:off x="10317481" y="280450"/>
              <a:ext cx="1166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387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Conclusion</a:t>
              </a: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9E6677-84AF-4612-92DA-AD37A465890E}"/>
              </a:ext>
            </a:extLst>
          </p:cNvPr>
          <p:cNvSpPr/>
          <p:nvPr/>
        </p:nvSpPr>
        <p:spPr>
          <a:xfrm>
            <a:off x="735673" y="1768838"/>
            <a:ext cx="4979325" cy="41148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Delivered System Capabilities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Secure role-based authentication with encrypted passwords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Advanced medication CRUD supporting four scheduling modes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One-tap logging integrated with inventory tracking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Automated background cron engine for missed-dose detection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Deployed on a live backend (render) with cloud database persistence (MongoDB Atlas)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C62D67-4894-4E01-BEA9-0106E8A31ED8}"/>
              </a:ext>
            </a:extLst>
          </p:cNvPr>
          <p:cNvSpPr/>
          <p:nvPr/>
        </p:nvSpPr>
        <p:spPr>
          <a:xfrm>
            <a:off x="6477004" y="1768838"/>
            <a:ext cx="4979325" cy="4114800"/>
          </a:xfrm>
          <a:prstGeom prst="roundRect">
            <a:avLst>
              <a:gd name="adj" fmla="val 9871"/>
            </a:avLst>
          </a:prstGeom>
          <a:solidFill>
            <a:srgbClr val="14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 Horizon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Offline support: Native caching layer for local writes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Drug integration API: OpenFDA integration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Adherence risk scoring: ML-based risk scores</a:t>
            </a:r>
          </a:p>
        </p:txBody>
      </p:sp>
    </p:spTree>
    <p:extLst>
      <p:ext uri="{BB962C8B-B14F-4D97-AF65-F5344CB8AC3E}">
        <p14:creationId xmlns:p14="http://schemas.microsoft.com/office/powerpoint/2010/main" val="3167660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6193A"/>
            </a:gs>
            <a:gs pos="0">
              <a:srgbClr val="00206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Heart with pulse with solid fill">
            <a:extLst>
              <a:ext uri="{FF2B5EF4-FFF2-40B4-BE49-F238E27FC236}">
                <a16:creationId xmlns:a16="http://schemas.microsoft.com/office/drawing/2014/main" id="{2763EC1B-6FED-4179-BA8D-D59404D67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799" y="754639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A253BC-FDA1-425E-97DD-E4F9D8333467}"/>
              </a:ext>
            </a:extLst>
          </p:cNvPr>
          <p:cNvSpPr txBox="1"/>
          <p:nvPr/>
        </p:nvSpPr>
        <p:spPr>
          <a:xfrm>
            <a:off x="1462087" y="2253888"/>
            <a:ext cx="926782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Questions &amp; Discussion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prstClr val="white">
                  <a:lumMod val="95000"/>
                </a:prst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2DD4C0"/>
                </a:solidFill>
                <a:latin typeface="Calibri" panose="020F0502020204030204"/>
              </a:rPr>
              <a:t>Thank you for your attention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97693F-DAAA-40ED-8E49-C9257A3DE6F7}"/>
              </a:ext>
            </a:extLst>
          </p:cNvPr>
          <p:cNvSpPr txBox="1"/>
          <p:nvPr/>
        </p:nvSpPr>
        <p:spPr>
          <a:xfrm>
            <a:off x="5153024" y="5124448"/>
            <a:ext cx="1885947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D4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Prepared By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Mohamad Khatib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1E6E5-A733-43FA-AE6B-033D5C5DC6EE}"/>
              </a:ext>
            </a:extLst>
          </p:cNvPr>
          <p:cNvSpPr txBox="1"/>
          <p:nvPr/>
        </p:nvSpPr>
        <p:spPr>
          <a:xfrm>
            <a:off x="8296275" y="5124448"/>
            <a:ext cx="1885947" cy="9233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D4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 2025-2026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2C19E-36FF-4B0B-B0CC-3780A4D46848}"/>
              </a:ext>
            </a:extLst>
          </p:cNvPr>
          <p:cNvSpPr txBox="1"/>
          <p:nvPr/>
        </p:nvSpPr>
        <p:spPr>
          <a:xfrm>
            <a:off x="2009779" y="5124448"/>
            <a:ext cx="1885947" cy="9233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D4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Instructors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Rami Tawil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Ali Jaber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32EE68-8BE6-413F-9E6D-C373888A4C39}"/>
              </a:ext>
            </a:extLst>
          </p:cNvPr>
          <p:cNvCxnSpPr>
            <a:cxnSpLocks/>
          </p:cNvCxnSpPr>
          <p:nvPr/>
        </p:nvCxnSpPr>
        <p:spPr>
          <a:xfrm>
            <a:off x="1928814" y="5029198"/>
            <a:ext cx="83343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734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1618</TotalTime>
  <Words>1229</Words>
  <Application>Microsoft Office PowerPoint</Application>
  <PresentationFormat>Widescreen</PresentationFormat>
  <Paragraphs>283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Mhamad</dc:creator>
  <cp:lastModifiedBy>Mhamad</cp:lastModifiedBy>
  <cp:revision>2</cp:revision>
  <dcterms:created xsi:type="dcterms:W3CDTF">2026-07-05T18:09:11Z</dcterms:created>
  <dcterms:modified xsi:type="dcterms:W3CDTF">2026-07-08T23:13:03Z</dcterms:modified>
</cp:coreProperties>
</file>