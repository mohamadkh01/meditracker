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75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9875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MediTracker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dose. Never lose sight of the people you care for.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Mohamad Khatib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problem hiding in plain 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 is one of the most common — and costly — failures in chronic care.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chronic-disease patients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take medication as prescribed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34747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deaths per year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non-adherence (U.S.)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$100–300B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avoidable healthcare spending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21031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6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34747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hospitalizations attributable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missed medication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Duke Health, AJMC, and peer-reviewed adherence research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just forgetfulness — it's a visibility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patient lives alone, or family can't be there at every dose, </a:t>
            </a: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knows whether a treatment plan is actually being followed</a:t>
            </a:r>
            <a:r>
              <a:rPr lang="en-US" sz="1700" dirty="0">
                <a:solidFill>
                  <a:srgbClr val="0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until a missed dose has already caused a setback.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MediTracker closes that gap: it gives a linked caregiver a passive, real-time view of whether doses are taken, skipped, or missed — without the patient having to report anything.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4206240" cy="3840480"/>
          </a:xfrm>
          <a:prstGeom prst="roundRect">
            <a:avLst>
              <a:gd name="adj" fmla="val 3571"/>
            </a:avLst>
          </a:prstGeom>
          <a:solidFill>
            <a:srgbClr val="023436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21488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22677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2103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logs a dose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73568" y="2743200"/>
            <a:ext cx="0" cy="548640"/>
          </a:xfrm>
          <a:prstGeom prst="line">
            <a:avLst/>
          </a:prstGeom>
          <a:noFill/>
          <a:ln w="25400">
            <a:solidFill>
              <a:srgbClr val="3E6E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34290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5478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3383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MediTracker checks in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every minute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73568" y="4023360"/>
            <a:ext cx="0" cy="548640"/>
          </a:xfrm>
          <a:prstGeom prst="line">
            <a:avLst/>
          </a:prstGeom>
          <a:noFill/>
          <a:ln w="25400">
            <a:solidFill>
              <a:srgbClr val="3E6E6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80960" y="47091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48280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is notified instantly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MediTracker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that helps patients stay on track with their medication — and gives the people who care about them peace of mind.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0B3E3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246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patients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4343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log a dose. Flexible schedules for any routine. No paper, no memory required.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80560" y="28346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0B3E3F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3108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icons/h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caregivers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4343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loved one's adherence in real time — without asking, calling, or checking in.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283464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0B3E3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3108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everyone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4343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missed-dose alerts mean nothing slips through the cracks, even on a busy day.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patient's day with MediTracker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4048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7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medications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due today, at a glance.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54680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➜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0712" y="192024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2252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24048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7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47872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to log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93592" y="36576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dose taken or skipped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tap — no forms.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925312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➜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81344" y="192024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72884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240487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8504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7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18504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reminded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64224" y="36576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notification arrives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when a dose is due.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695944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➜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951976" y="192024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843516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3" descr="/home/claude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8108" y="2404872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89136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7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089136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history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134856" y="36576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adherence record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time, no paper trail.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caregiver sees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patient approves the connection, a caregiver gets a live window into their care — without ever needing to ask.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231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consent-based linking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514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invites a caregiver (or vice versa) — nothing is visible until both sides agree.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2860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231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adherence visibility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32320" y="2514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linked patient's medication list and history — taken, skipped, or missed.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062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886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alerts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297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the moment a dose is taken, skipped, or automatically flagged as missed.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7490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0690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062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886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control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32320" y="4297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end the connection at any time — access is never assumed, only granted.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3E3F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9476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falls through the cracks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51560" y="3063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are caught automatically — no one has to remember to check.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3E3F"/>
          </a:solidFill>
          <a:ln/>
        </p:spPr>
      </p:sp>
      <p:sp>
        <p:nvSpPr>
          <p:cNvPr id="9" name="Shape 6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/home/claude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9476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2514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routines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46320" y="3063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specific days, fixed intervals, or as-needed — schedules match how people actually take medication.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1248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3E3F"/>
          </a:solidFill>
          <a:ln/>
        </p:spPr>
      </p:sp>
      <p:sp>
        <p:nvSpPr>
          <p:cNvPr id="14" name="Shape 10"/>
          <p:cNvSpPr/>
          <p:nvPr/>
        </p:nvSpPr>
        <p:spPr>
          <a:xfrm>
            <a:off x="8641080" y="1828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/home/claude/icons/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19476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2514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Peace of mind for families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641080" y="3063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stay informed without hovering, calling, or asking.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960" y="42062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3E3F"/>
          </a:solidFill>
          <a:ln/>
        </p:spPr>
      </p:sp>
      <p:sp>
        <p:nvSpPr>
          <p:cNvPr id="19" name="Shape 14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/home/claude/icons/mobile.png"/>
          <p:cNvPicPr>
            <a:picLocks noChangeAspect="1"/>
          </p:cNvPicPr>
          <p:nvPr/>
        </p:nvPicPr>
        <p:blipFill rotWithShape="1">
          <a:blip r:embed="rId6"/>
          <a:srcRect r="35907"/>
          <a:stretch/>
        </p:blipFill>
        <p:spPr>
          <a:xfrm>
            <a:off x="1226249" y="4553712"/>
            <a:ext cx="199263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Effortless for patients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051560" y="5669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log a dose. No paperwork, no complicated setup.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17720" y="42062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3E3F"/>
          </a:solidFill>
          <a:ln/>
        </p:spPr>
      </p:sp>
      <p:sp>
        <p:nvSpPr>
          <p:cNvPr id="24" name="Shape 18"/>
          <p:cNvSpPr/>
          <p:nvPr/>
        </p:nvSpPr>
        <p:spPr>
          <a:xfrm>
            <a:off x="4846320" y="44348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4" descr="/home/claude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455371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design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846320" y="5669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only ever sees what a patient has explicitly approved.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412480" y="42062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0B3E3F"/>
          </a:solidFill>
          <a:ln/>
        </p:spPr>
      </p:sp>
      <p:sp>
        <p:nvSpPr>
          <p:cNvPr id="29" name="Shape 22"/>
          <p:cNvSpPr/>
          <p:nvPr/>
        </p:nvSpPr>
        <p:spPr>
          <a:xfrm>
            <a:off x="8641080" y="44348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5" descr="/home/claude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455371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64108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history, always on hand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641080" y="5669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adherence record is ready any time — for a family conversation or a doctor's visit.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377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managing chronic conditions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diabetes, and other long-term treatments that depend on consistent daily routines.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8358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377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and caregivers at a distance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70916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children, spouses, or guardians who can't always be there in person at dose time.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7834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icons/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0" y="2377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organizations and home-care providers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50392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adherence needs to be visible across many patients without manual check-ins.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scheduling a dose to keeping a caregiver in the loop — real screens, four steps.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359256" y="1554480"/>
            <a:ext cx="2148840" cy="4206240"/>
          </a:xfrm>
          <a:prstGeom prst="roundRect">
            <a:avLst>
              <a:gd name="adj" fmla="val 936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1552" y="1737360"/>
            <a:ext cx="1984248" cy="385876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113636" y="1618488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7" name="Shape 5"/>
          <p:cNvSpPr/>
          <p:nvPr/>
        </p:nvSpPr>
        <p:spPr>
          <a:xfrm>
            <a:off x="2159356" y="5605272"/>
            <a:ext cx="548640" cy="457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pic>
        <p:nvPicPr>
          <p:cNvPr id="8" name="Image 0" descr="/mnt/user-data/uploads/WhatsApp_Image_2026-07-11_at_4_01_19_PM__1_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1552" y="1737360"/>
            <a:ext cx="1984248" cy="3858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7816" y="5897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Medication added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67816" y="6217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Dosage, schedule, and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all in one place.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08096" y="34290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00704" y="1554480"/>
            <a:ext cx="2148840" cy="4206240"/>
          </a:xfrm>
          <a:prstGeom prst="roundRect">
            <a:avLst>
              <a:gd name="adj" fmla="val 936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83000" y="1737360"/>
            <a:ext cx="1984248" cy="3858768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55084" y="1618488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5" name="Shape 12"/>
          <p:cNvSpPr/>
          <p:nvPr/>
        </p:nvSpPr>
        <p:spPr>
          <a:xfrm>
            <a:off x="4600804" y="5605272"/>
            <a:ext cx="548640" cy="457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16" name="Text 13"/>
          <p:cNvSpPr/>
          <p:nvPr/>
        </p:nvSpPr>
        <p:spPr>
          <a:xfrm>
            <a:off x="3883000" y="1965960"/>
            <a:ext cx="198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15:49</a:t>
            </a:r>
            <a:endParaRPr lang="en-US" sz="2200" dirty="0"/>
          </a:p>
        </p:txBody>
      </p:sp>
      <p:pic>
        <p:nvPicPr>
          <p:cNvPr id="17" name="Image 1" descr="/mnt/user-data/uploads/WhatsApp_Image_2026-07-11_at_4_01_19_PM__2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440" y="2651760"/>
            <a:ext cx="1801368" cy="63047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09264" y="5897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Reminder fires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709264" y="6217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notification reminds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right on time.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9544" y="34290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➜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42152" y="1554480"/>
            <a:ext cx="2148840" cy="4206240"/>
          </a:xfrm>
          <a:prstGeom prst="roundRect">
            <a:avLst>
              <a:gd name="adj" fmla="val 936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24448" y="1737360"/>
            <a:ext cx="1984248" cy="385876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6996532" y="1618488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24" name="Shape 20"/>
          <p:cNvSpPr/>
          <p:nvPr/>
        </p:nvSpPr>
        <p:spPr>
          <a:xfrm>
            <a:off x="7042252" y="5605272"/>
            <a:ext cx="548640" cy="457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pic>
        <p:nvPicPr>
          <p:cNvPr id="25" name="Image 2" descr="/mnt/user-data/uploads/WhatsApp_Image_2026-07-11_at_4_01_19_P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24448" y="1737360"/>
            <a:ext cx="1984248" cy="38587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50712" y="5897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Dose logged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150712" y="6217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Mark Taken —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recorded.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390992" y="34290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➜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683600" y="1554480"/>
            <a:ext cx="2148840" cy="4206240"/>
          </a:xfrm>
          <a:prstGeom prst="roundRect">
            <a:avLst>
              <a:gd name="adj" fmla="val 936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765896" y="1737360"/>
            <a:ext cx="1984248" cy="3858768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sp>
        <p:nvSpPr>
          <p:cNvPr id="31" name="Shape 26"/>
          <p:cNvSpPr/>
          <p:nvPr/>
        </p:nvSpPr>
        <p:spPr>
          <a:xfrm>
            <a:off x="9437980" y="1618488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32" name="Shape 27"/>
          <p:cNvSpPr/>
          <p:nvPr/>
        </p:nvSpPr>
        <p:spPr>
          <a:xfrm>
            <a:off x="9483700" y="5605272"/>
            <a:ext cx="548640" cy="457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3" name="Text 28"/>
          <p:cNvSpPr/>
          <p:nvPr/>
        </p:nvSpPr>
        <p:spPr>
          <a:xfrm>
            <a:off x="8765896" y="1965960"/>
            <a:ext cx="198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15:53</a:t>
            </a:r>
            <a:endParaRPr lang="en-US" sz="2200" dirty="0"/>
          </a:p>
        </p:txBody>
      </p:sp>
      <p:pic>
        <p:nvPicPr>
          <p:cNvPr id="34" name="Image 3" descr="/mnt/user-data/uploads/WhatsApp_Image_2026-07-11_at_4_01_19_PM__3_.jpeg"/>
          <p:cNvPicPr>
            <a:picLocks noChangeAspect="1"/>
          </p:cNvPicPr>
          <p:nvPr/>
        </p:nvPicPr>
        <p:blipFill rotWithShape="1">
          <a:blip r:embed="rId6"/>
          <a:srcRect l="1532" t="7279" r="1493" b="-1"/>
          <a:stretch/>
        </p:blipFill>
        <p:spPr>
          <a:xfrm>
            <a:off x="8884920" y="2651760"/>
            <a:ext cx="1746885" cy="582257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592160" y="5897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Caregiver notified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8592160" y="6217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 caregiver is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alerted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help people stay on track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MediTracker is ready to bring reliable medication adherence and caregiver peace of mind to the people you serve.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753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Mhamad</cp:lastModifiedBy>
  <cp:revision>3</cp:revision>
  <dcterms:created xsi:type="dcterms:W3CDTF">2026-07-11T09:56:19Z</dcterms:created>
  <dcterms:modified xsi:type="dcterms:W3CDTF">2026-07-11T13:15:43Z</dcterms:modified>
</cp:coreProperties>
</file>